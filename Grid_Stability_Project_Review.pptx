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733"/>
                </a:solidFill>
                <a:latin typeface="Arial"/>
              </a:rPr>
              <a:t>Test-Set AUC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AUC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Cost-Sensitive
XGBoost</c:v>
                  </c:pt>
                  <c:pt idx="1">
                    <c:v>Cost-Sensitive
SVM (RBF)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0.99</c:v>
                </c:pt>
                <c:pt idx="1">
                  <c:v>0.996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7"/>
        </c:scaling>
        <c:delete val="0"/>
        <c:axPos val="l"/>
        <c:majorGridlines>
          <c:spPr>
            <a:ln w="12700" cap="flat">
              <a:solidFill>
                <a:srgbClr val="E1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733"/>
                </a:solidFill>
                <a:latin typeface="Arial"/>
              </a:rPr>
              <a:t>Train vs. Test AUC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AUC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XGBoost</c:v>
                  </c:pt>
                  <c:pt idx="1">
                    <c:v>SVM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0.999</c:v>
                </c:pt>
                <c:pt idx="1">
                  <c:v>0.999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AUC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XGBoost</c:v>
                  </c:pt>
                  <c:pt idx="1">
                    <c:v>SVM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0.99</c:v>
                </c:pt>
                <c:pt idx="1">
                  <c:v>0.996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05"/>
          <c:min val="0.97"/>
        </c:scaling>
        <c:delete val="0"/>
        <c:axPos val="l"/>
        <c:majorGridlines>
          <c:spPr>
            <a:ln w="12700" cap="flat">
              <a:solidFill>
                <a:srgbClr val="E1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12700">
            <a:solidFill>
              <a:srgbClr val="18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12700">
            <a:solidFill>
              <a:srgbClr val="183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12700">
            <a:solidFill>
              <a:srgbClr val="183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0"/>
            <a:ext cx="0" cy="6858000"/>
          </a:xfrm>
          <a:prstGeom prst="line">
            <a:avLst/>
          </a:prstGeom>
          <a:noFill/>
          <a:ln w="12700">
            <a:solidFill>
              <a:srgbClr val="18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0"/>
            <a:ext cx="0" cy="6858000"/>
          </a:xfrm>
          <a:prstGeom prst="line">
            <a:avLst/>
          </a:prstGeom>
          <a:noFill/>
          <a:ln w="12700">
            <a:solidFill>
              <a:srgbClr val="183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GRID ANALYTICS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Load Shedding &amp;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Stability Classification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Machine Learning + SHAP Explainability, on the UCI Electrical Grid Stability Simulated Dataset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195560" y="685800"/>
            <a:ext cx="1051560" cy="10515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0" descr="assets/icon_z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8966" y="959206"/>
            <a:ext cx="504749" cy="50474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8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— Current Stage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 fail fast, and warnings are physical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6" name="Image 0" descr="assets/icon_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3966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supply/demand swings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wind injection and heatwave demand spikes can destabilize grid frequency within seconds.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19456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1" name="Image 1" descr="assets/icon_z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242" y="239664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1546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failure mode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8404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risks damaging multi-million dollar transformers — hardware that takes months to replace.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8745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19456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6" name="Image 2" descr="assets/icon_tre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1722" y="23966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1546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Wasteful over-caution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38404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Over-generating or shedding load unnecessarily wastes power and money on the other side of the tradeoff.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3949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forecast grid stability ahead of time, so micro-load-shedding can be triggered proactively — not reactively.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Stability Analytics — Project Review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Electrical Grid Stability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grid states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economic input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participants (1 producer, 3 consumers)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7223760" cy="3977640"/>
          </a:xfrm>
          <a:prstGeom prst="roundRect">
            <a:avLst>
              <a:gd name="adj" fmla="val 2759"/>
            </a:avLst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148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651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tau1 – tau4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26517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time of each participant (seconds) — how fast they respond to price signals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344728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– p4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344728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produced/consumed. p1 = −(p2+p3+p4) by physical constraint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4242816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g1 – g4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4242816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 coefficient — how strongly each participant reacts to price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503834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 / stabf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5038344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real eigenvalue of the linearized system → thresholded into stable / unstable label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stab/stabf is excluded from model inputs — it IS the label pre-thresholding, so training on it would be leakage.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Stability Analytics — Project Review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" y="228600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6263B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2606040"/>
            <a:ext cx="685800" cy="6858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assets/icon_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27843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95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" y="34747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977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leaky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`stab` column;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12 true inputs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33472" y="35661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89504" y="228600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6263B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9584" y="2606040"/>
            <a:ext cx="685800" cy="6858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3" name="Image 1" descr="assets/icon_slid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27843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99232" y="2395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026664" y="34747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matrix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026664" y="3977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(missed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instability) costs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an FP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55464" y="35661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111496" y="228600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6263B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51576" y="2606040"/>
            <a:ext cx="685800" cy="6858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0" name="Image 2" descr="assets/icon_cpu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278434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21224" y="2395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248656" y="34747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5248656" y="3977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SVM,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5-fold CV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077456" y="35661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7333488" y="228600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6263B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973568" y="2606040"/>
            <a:ext cx="685800" cy="6858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7" name="Image 3" descr="assets/icon_targe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76" y="278434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43216" y="2395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470648" y="34747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7470648" y="3977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decision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that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cost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299448" y="35661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9555480" y="228600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6263B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195560" y="2606040"/>
            <a:ext cx="685800" cy="6858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4" name="Image 4" descr="assets/icon_search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3868" y="2784348"/>
            <a:ext cx="329184" cy="32918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65208" y="2395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692640" y="34747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</a:t>
            </a:r>
            <a:endParaRPr lang="en-US" sz="1450" dirty="0"/>
          </a:p>
        </p:txBody>
      </p:sp>
      <p:sp>
        <p:nvSpPr>
          <p:cNvPr id="37" name="Text 30"/>
          <p:cNvSpPr/>
          <p:nvPr/>
        </p:nvSpPr>
        <p:spPr>
          <a:xfrm>
            <a:off x="9692640" y="3977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predictions,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stability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Stability Analytics — Project Review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mistakes cost the same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FDEBEC"/>
          </a:solidFill>
          <a:ln w="12700">
            <a:solidFill>
              <a:srgbClr val="F3C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685800" cy="685800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6" name="Image 0" descr="assets/icon_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4185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219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— missed instability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71576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says 'stable' when grid is actually failing → cascading outage / transformer damage risk.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EAF6F0"/>
          </a:solidFill>
          <a:ln w="12700">
            <a:solidFill>
              <a:srgbClr val="BFE3D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4297680"/>
            <a:ext cx="685800" cy="685800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11" name="Image 1" descr="assets/icon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44759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42793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— false alarm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477316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says 'unstable' when grid is fine → minor, wasted precautionary curtailment.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89320" y="1965960"/>
            <a:ext cx="5669280" cy="3703320"/>
          </a:xfrm>
          <a:prstGeom prst="roundRect">
            <a:avLst>
              <a:gd name="adj" fmla="val 2963"/>
            </a:avLst>
          </a:prstGeom>
          <a:solidFill>
            <a:srgbClr val="0D1B2A"/>
          </a:solidFill>
          <a:ln/>
        </p:spPr>
      </p:sp>
      <p:sp>
        <p:nvSpPr>
          <p:cNvPr id="15" name="Text 11"/>
          <p:cNvSpPr/>
          <p:nvPr/>
        </p:nvSpPr>
        <p:spPr>
          <a:xfrm>
            <a:off x="6355080" y="2240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ratio applied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355080" y="26517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: 1</a:t>
            </a:r>
            <a:endParaRPr lang="en-US" sz="6400" dirty="0"/>
          </a:p>
        </p:txBody>
      </p:sp>
      <p:sp>
        <p:nvSpPr>
          <p:cNvPr id="17" name="Text 13"/>
          <p:cNvSpPr/>
          <p:nvPr/>
        </p:nvSpPr>
        <p:spPr>
          <a:xfrm>
            <a:off x="635508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cost : FP cost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355080" y="429768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two ways: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scale_pos_weight (XGBoost) / class_weight (SVM), tuned via 5-fold CV on expected cost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decision threshold re-optimized post-hoc — not the default 0.5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Stability Analytics — Project Review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classifiers, head to head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212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28800"/>
          <a:ext cx="5623560" cy="301752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783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scale_pos_weight =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 = {0:1, 1:5}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Cost-optimal expected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Train–test AUC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this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explainability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/ best classifier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035040" y="5074920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wins on both accuracy and cost — likely because the true stability boundary is a smooth nonlinear function, which suits an RBF kernel better than tree splits.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Stability Analytics — Project Review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overfitted? No.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874520"/>
            <a:ext cx="4297680" cy="4023360"/>
          </a:xfrm>
          <a:prstGeom prst="roundRect">
            <a:avLst>
              <a:gd name="adj" fmla="val 2727"/>
            </a:avLst>
          </a:prstGeom>
          <a:solidFill>
            <a:srgbClr val="0D1B2A"/>
          </a:solidFill>
          <a:ln/>
        </p:spPr>
      </p:sp>
      <p:sp>
        <p:nvSpPr>
          <p:cNvPr id="6" name="Shape 3"/>
          <p:cNvSpPr/>
          <p:nvPr/>
        </p:nvSpPr>
        <p:spPr>
          <a:xfrm>
            <a:off x="7680960" y="219456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7" name="Image 0" descr="assets/icon_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55" y="2384755"/>
            <a:ext cx="351130" cy="3511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8096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tell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680960" y="3520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shows up as a big gap between training and test performance — the model memorized rather than generalized.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680960" y="4572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the gap is 0.001–0.009 AUC — the model performs almost identically on data it has never seen.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Stability Analytics — Project Review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the prediction</a:t>
            </a:r>
            <a:endParaRPr lang="en-US" sz="2800" dirty="0"/>
          </a:p>
        </p:txBody>
      </p:sp>
      <p:pic>
        <p:nvPicPr>
          <p:cNvPr id="4" name="Image 0" descr="assets/shap_summ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91640"/>
            <a:ext cx="64922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691640"/>
            <a:ext cx="4343400" cy="4480560"/>
          </a:xfrm>
          <a:prstGeom prst="roundRect">
            <a:avLst>
              <a:gd name="adj" fmla="val 2526"/>
            </a:avLst>
          </a:prstGeom>
          <a:solidFill>
            <a:srgbClr val="0D1B2A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in one line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35240" y="237744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input pushed the prediction toward 'stable' or 'unstable', and by how much — no black box.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35240" y="3383280"/>
            <a:ext cx="3703320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35661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35240" y="3931920"/>
            <a:ext cx="3703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time (tau) and price elasticity (g) dominate. Raw power (p) barely matters — each p is constrained to sum to zero, so it carries little independent signal.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Stability Analytics — Project Review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grid flips from stable to unstable</a:t>
            </a:r>
            <a:endParaRPr lang="en-US" sz="2700" dirty="0"/>
          </a:p>
        </p:txBody>
      </p:sp>
      <p:pic>
        <p:nvPicPr>
          <p:cNvPr id="4" name="Image 0" descr="assets/shap_dependence_top_fea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691640"/>
            <a:ext cx="676656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945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3.3 s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54864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time (tau4 / tau1)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~3.3s, participant reaction time pushes the model toward 'stable'. Above it, the same variable pushes toward 'unstable'.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562356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16263B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7150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empirical — derived from the trained model, not yet cross-checked against the closed-form eigenvalue condition.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Stability Analytics — Project Review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done, and what this is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EAF6F0"/>
          </a:solidFill>
          <a:ln w="12700">
            <a:solidFill>
              <a:srgbClr val="BFE3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6" name="Image 0" descr="assets/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585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prep with leakage correctly removed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43814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Cost-sensitive XGBoost + SVM, both tuned via CV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04164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Threshold re-optimized for expected cost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64515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Overfitting checked — confirmed not overfit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524865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SHAP explainability + numeric threshold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18745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DEBEC"/>
          </a:solidFill>
          <a:ln w="12700">
            <a:solidFill>
              <a:srgbClr val="F3C4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21488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15" name="Image 1" descr="assets/icon_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231526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22585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/ out of scope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83680" y="2834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connected to real grid telemetry — simulated data only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83680" y="36118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an actuator — classifies, doesn't shed load itself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83680" y="43891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10:1 cost ratio is a reasoned assumption, not calibrated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83680" y="5166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3.3s threshold not yet cross-checked against the closed-form eigenvalue condition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Stability Analytics — Project Review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1920240"/>
            <a:ext cx="1097280" cy="10972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" name="Image 0" descr="assets/icon_z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1129" y="22055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461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388620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cost-aware classifier that not only predicts grid stability with &gt;99% AUC,</a:t>
            </a:r>
            <a:endParaRPr lang="en-US" sz="15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AE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explains — in physical terms — exactly why.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Stability Analytics — Project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2026-07-27T12:41:13Z</dcterms:created>
  <dcterms:modified xsi:type="dcterms:W3CDTF">2026-07-27T12:41:13Z</dcterms:modified>
</cp:coreProperties>
</file>